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"/>
  </p:notesMasterIdLst>
  <p:sldIdLst>
    <p:sldId id="257" r:id="rId5"/>
    <p:sldId id="258" r:id="rId11"/>
    <p:sldId id="259" r:id="rId12"/>
    <p:sldId id="260" r:id="rId13"/>
    <p:sldId id="261" r:id="rId14"/>
    <p:sldId id="262" r:id="rId15"/>
    <p:sldId id="263" r:id="rId16"/>
    <p:sldId id="264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3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3814" autoAdjust="0"/>
    <p:restoredTop sz="94660"/>
  </p:normalViewPr>
  <p:slideViewPr>
    <p:cSldViewPr snapToGrid="0">
      <p:cViewPr>
        <p:scale>
          <a:sx n="106" d="100"/>
          <a:sy n="106" d="100"/>
        </p:scale>
        <p:origin x="1536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D0E90B-C79E-46E2-8898-EC987AA8CA9E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45DB64-F626-4811-8DA5-D75A57D00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8728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F77A54-BD82-40BE-8452-61ABBC0066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6922B4-922F-4407-8DD7-3D2181C523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0BB4A2-7835-4E85-8919-8A38859F4F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C2A4-B104-48EF-9C47-F824DB1098A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482F31-385F-4FD0-A3F1-4D3B3481BD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5362FE-317C-42F6-A494-D950F370F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31B71-ED6F-4F0A-9665-BB78A97BB4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40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099B9-BDC6-4020-AAD0-8FA427C41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B3C9DD-A452-4095-BEF6-2D2988499B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F29807-80C3-4A2C-BA6A-4CCB0D5D4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C2A4-B104-48EF-9C47-F824DB1098A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3C6F4F-6F7D-4773-8E8E-94FB2C036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1534D5-6B38-463B-90B6-CF205DA32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31B71-ED6F-4F0A-9665-BB78A97BB4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1580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B2535-CB85-4CD2-BA8A-DA2748D5B6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500436-781B-41FA-B050-11BFC310E7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E17D20-175C-4889-9329-131BE7CA9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C2A4-B104-48EF-9C47-F824DB1098A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7EAAC1-E158-4B7F-A1FB-CD6697E04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4E351-E2DA-4C7D-A99A-0BB057963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31B71-ED6F-4F0A-9665-BB78A97BB4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1847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832AA-BCEB-4BE5-BF3E-CFFEA7EF2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5F5816-F92D-4EFC-BF3C-68D9B54079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E5A7A4-86DC-44DD-B1E3-FB37E3AF65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5E3EE6-0A35-4F9A-851C-9234C42A68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C2A4-B104-48EF-9C47-F824DB1098A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ED4498-F404-43EE-8317-046E461660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577D77-6E07-44B4-A81B-867B8ED6C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31B71-ED6F-4F0A-9665-BB78A97BB4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928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D6927-F6BD-4423-8C65-7D03AA44E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073A0E-EEC0-4B1B-877A-9E2DEEE5D5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5FAABB-234D-4C22-9130-9DD1DAB891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B1B6D6-8DCF-458A-9592-DE9382EFC6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36ABA77-349C-48D4-9C99-FBBA39B2CE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82411EA-47D3-42D3-B492-670F9E50D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C2A4-B104-48EF-9C47-F824DB1098A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B94737-7BAF-4ECE-A0DF-BE3A51868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C45649-6FE7-4E99-83F3-6E54712ED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31B71-ED6F-4F0A-9665-BB78A97BB4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5653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1223F-5037-45F9-BF49-92C1BDC6E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631E25-5FE4-478C-8983-75905B80D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C2A4-B104-48EF-9C47-F824DB1098A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3D6464-E907-448F-BD7B-9DCF5BA0F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D837B2-F6B5-4223-87D1-E6D34619F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31B71-ED6F-4F0A-9665-BB78A97BB4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3592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5B3A76-6847-464D-80D9-5E38EC2B39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C2A4-B104-48EF-9C47-F824DB1098A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207A1B2-BF03-49C7-88B4-25E905EAB2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AF3BDE-A013-4D13-B522-FB23FACE7E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31B71-ED6F-4F0A-9665-BB78A97BB4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4256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1C24D-35D4-4405-A2F6-BAA48855C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7E0FA9-027B-48F4-A799-E57BFE1914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FFF73D-8C51-4836-B9F9-67883F72A9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5DE97-314A-4F6E-A916-132FE643E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C2A4-B104-48EF-9C47-F824DB1098A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E668E7-96E6-4EB2-B15E-F9E3355BAC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C7AE19-CE0D-4086-BE1F-220B8C64A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31B71-ED6F-4F0A-9665-BB78A97BB4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03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184A9-1713-40AC-A3A6-C3EB22158C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AC02AA-8B2A-455E-B870-14F801B9B5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C71EB9-3D0E-41E6-9B27-1B5050802E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34AA6C-F900-4A4A-B3A1-ED4C16B22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C2A4-B104-48EF-9C47-F824DB1098A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5AD3CA-B3A8-4A3B-AA71-7631A4CD3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4A119A-BFB1-4FB9-9504-BA8441DE5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31B71-ED6F-4F0A-9665-BB78A97BB4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7713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D9C09D-1C5C-4073-A043-D9C2B3E91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8DB4FE-AD34-45AA-BE3A-9020609677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9770A8-6731-4D3D-A809-28BCCEDA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C2A4-B104-48EF-9C47-F824DB1098A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BB280D-BFCE-4325-8CB1-B8ABB3243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BC847B-2B41-4B8D-8EF7-38D73BEC6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31B71-ED6F-4F0A-9665-BB78A97BB4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2827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8ED2FCE-B436-4F65-A082-F0C397A75A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27B8328-6BAF-4A01-BAF2-1250EB8B61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FCA566-4B50-4C75-A1E7-5311DC91F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9C2A4-B104-48EF-9C47-F824DB1098A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58F59F-CFBA-4F7B-9143-8479FD477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FA195-9B2A-49A3-A584-A8E4E792A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831B71-ED6F-4F0A-9665-BB78A97BB4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1527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0892976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FB0F009-7144-4FDD-BB30-A876A1C59E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FA4960-7764-4EE8-B652-7698ADE142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A6F839-F3E3-495C-9209-BB0EF91AA4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D9C2A4-B104-48EF-9C47-F824DB1098A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CA25FE-24F4-425D-9352-8A0572A026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78BF00-1A8A-4F69-84EA-60BA2F0EC8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831B71-ED6F-4F0A-9665-BB78A97BB4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134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EE2BE142-6219-4A32-A8D4-FAE1D2C0A131}"/>
              </a:ext>
            </a:extLst>
          </p:cNvPr>
          <p:cNvGrpSpPr/>
          <p:nvPr/>
        </p:nvGrpSpPr>
        <p:grpSpPr>
          <a:xfrm>
            <a:off x="0" y="-7749"/>
            <a:ext cx="12192000" cy="6858000"/>
            <a:chOff x="0" y="0"/>
            <a:chExt cx="12192000" cy="6858000"/>
          </a:xfrm>
        </p:grpSpPr>
        <p:sp>
          <p:nvSpPr>
            <p:cNvPr id="4" name="Shape 2"/>
            <p:cNvSpPr/>
            <p:nvPr/>
          </p:nvSpPr>
          <p:spPr>
            <a:xfrm>
              <a:off x="0" y="146304"/>
              <a:ext cx="3413760" cy="655929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FFFFFF"/>
              </a:solidFill>
              <a:prstDash val="solid"/>
            </a:ln>
          </p:spPr>
        </p:sp>
        <p:sp>
          <p:nvSpPr>
            <p:cNvPr id="9" name="Shape 7"/>
            <p:cNvSpPr/>
            <p:nvPr/>
          </p:nvSpPr>
          <p:spPr>
            <a:xfrm>
              <a:off x="370311" y="4526280"/>
              <a:ext cx="2663405" cy="48768"/>
            </a:xfrm>
            <a:prstGeom prst="rect">
              <a:avLst/>
            </a:prstGeom>
            <a:solidFill>
              <a:srgbClr val="C8960C"/>
            </a:solidFill>
            <a:ln w="12700">
              <a:solidFill>
                <a:srgbClr val="C8960C"/>
              </a:solidFill>
              <a:prstDash val="solid"/>
            </a:ln>
          </p:spPr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E51FD539-0B18-4B17-AC3E-6C2E56F41895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858000"/>
            </a:xfrm>
          </p:grpSpPr>
          <p:sp>
            <p:nvSpPr>
              <p:cNvPr id="2" name="Shape 0"/>
              <p:cNvSpPr/>
              <p:nvPr/>
            </p:nvSpPr>
            <p:spPr>
              <a:xfrm>
                <a:off x="0" y="0"/>
                <a:ext cx="12192000" cy="146304"/>
              </a:xfrm>
              <a:prstGeom prst="rect">
                <a:avLst/>
              </a:prstGeom>
              <a:solidFill>
                <a:srgbClr val="C8960C"/>
              </a:solidFill>
              <a:ln w="12700">
                <a:solidFill>
                  <a:srgbClr val="C8960C"/>
                </a:solidFill>
                <a:prstDash val="solid"/>
              </a:ln>
            </p:spPr>
          </p:sp>
          <p:sp>
            <p:nvSpPr>
              <p:cNvPr id="3" name="Shape 1"/>
              <p:cNvSpPr/>
              <p:nvPr/>
            </p:nvSpPr>
            <p:spPr>
              <a:xfrm>
                <a:off x="0" y="6705600"/>
                <a:ext cx="12192000" cy="152400"/>
              </a:xfrm>
              <a:prstGeom prst="rect">
                <a:avLst/>
              </a:prstGeom>
              <a:solidFill>
                <a:srgbClr val="C8960C"/>
              </a:solidFill>
              <a:ln w="12700">
                <a:solidFill>
                  <a:srgbClr val="C8960C"/>
                </a:solidFill>
                <a:prstDash val="solid"/>
              </a:ln>
            </p:spPr>
          </p:sp>
          <p:sp>
            <p:nvSpPr>
              <p:cNvPr id="11" name="Shape 9"/>
              <p:cNvSpPr/>
              <p:nvPr/>
            </p:nvSpPr>
            <p:spPr>
              <a:xfrm>
                <a:off x="3315642" y="146304"/>
                <a:ext cx="8876358" cy="6559296"/>
              </a:xfrm>
              <a:prstGeom prst="rect">
                <a:avLst/>
              </a:prstGeom>
              <a:solidFill>
                <a:srgbClr val="003366"/>
              </a:solidFill>
              <a:ln w="12700">
                <a:solidFill>
                  <a:srgbClr val="003366"/>
                </a:solidFill>
                <a:prstDash val="solid"/>
              </a:ln>
            </p:spPr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7E8F91F1-D33C-48E9-9439-A6687AFA7DFD}"/>
                </a:ext>
              </a:extLst>
            </p:cNvPr>
            <p:cNvGrpSpPr/>
            <p:nvPr/>
          </p:nvGrpSpPr>
          <p:grpSpPr>
            <a:xfrm>
              <a:off x="3655695" y="426720"/>
              <a:ext cx="3048000" cy="463296"/>
              <a:chOff x="3655695" y="426720"/>
              <a:chExt cx="3048000" cy="463296"/>
            </a:xfrm>
          </p:grpSpPr>
          <p:sp>
            <p:nvSpPr>
              <p:cNvPr id="12" name="Shape 10"/>
              <p:cNvSpPr/>
              <p:nvPr/>
            </p:nvSpPr>
            <p:spPr>
              <a:xfrm>
                <a:off x="3655695" y="426720"/>
                <a:ext cx="3048000" cy="463296"/>
              </a:xfrm>
              <a:prstGeom prst="rect">
                <a:avLst/>
              </a:prstGeom>
              <a:solidFill>
                <a:srgbClr val="C8960C"/>
              </a:solidFill>
              <a:ln w="12700">
                <a:solidFill>
                  <a:srgbClr val="C8960C"/>
                </a:solidFill>
                <a:prstDash val="solid"/>
              </a:ln>
            </p:spPr>
          </p:sp>
          <p:sp>
            <p:nvSpPr>
              <p:cNvPr id="13" name="Text 11"/>
              <p:cNvSpPr/>
              <p:nvPr/>
            </p:nvSpPr>
            <p:spPr>
              <a:xfrm>
                <a:off x="3794241" y="426720"/>
                <a:ext cx="2770909" cy="46329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sz="1600" b="1" dirty="0">
                    <a:solidFill>
                      <a:srgbClr val="003366"/>
                    </a:solidFill>
                  </a:rPr>
                  <a:t>INTERNSHIP/TERM PROJECT</a:t>
                </a:r>
                <a:endParaRPr lang="en-US" sz="1600" dirty="0"/>
              </a:p>
            </p:txBody>
          </p:sp>
        </p:grpSp>
        <p:sp>
          <p:nvSpPr>
            <p:cNvPr id="15" name="Shape 13"/>
            <p:cNvSpPr/>
            <p:nvPr/>
          </p:nvSpPr>
          <p:spPr>
            <a:xfrm>
              <a:off x="3533775" y="2687513"/>
              <a:ext cx="8168640" cy="50268"/>
            </a:xfrm>
            <a:prstGeom prst="rect">
              <a:avLst/>
            </a:prstGeom>
            <a:solidFill>
              <a:srgbClr val="C8960C"/>
            </a:solidFill>
            <a:ln w="12700">
              <a:solidFill>
                <a:srgbClr val="C8960C"/>
              </a:solidFill>
              <a:prstDash val="solid"/>
            </a:ln>
          </p:spPr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A394E0BD-D4FA-419D-AC66-F1E64F9FA301}"/>
                </a:ext>
              </a:extLst>
            </p:cNvPr>
            <p:cNvGrpSpPr/>
            <p:nvPr/>
          </p:nvGrpSpPr>
          <p:grpSpPr>
            <a:xfrm>
              <a:off x="44169" y="445008"/>
              <a:ext cx="3212862" cy="5547360"/>
              <a:chOff x="187044" y="292608"/>
              <a:chExt cx="3048000" cy="5376672"/>
            </a:xfrm>
          </p:grpSpPr>
          <p:sp>
            <p:nvSpPr>
              <p:cNvPr id="8" name="Text 6"/>
              <p:cNvSpPr/>
              <p:nvPr/>
            </p:nvSpPr>
            <p:spPr>
              <a:xfrm>
                <a:off x="187044" y="3413760"/>
                <a:ext cx="3048000" cy="97536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algn="ctr"/>
                <a:r>
                  <a:rPr lang="en-US" sz="1330" b="1" dirty="0">
                    <a:solidFill>
                      <a:srgbClr val="003366"/>
                    </a:solidFill>
                  </a:rPr>
                  <a:t>Indian Institute of Technology</a:t>
                </a:r>
                <a:r>
                  <a:rPr lang="en-US" sz="1330" dirty="0"/>
                  <a:t xml:space="preserve"> </a:t>
                </a:r>
                <a:r>
                  <a:rPr lang="en-US" sz="1330" b="1" dirty="0">
                    <a:solidFill>
                      <a:srgbClr val="003366"/>
                    </a:solidFill>
                  </a:rPr>
                  <a:t>Guwahati</a:t>
                </a:r>
                <a:endParaRPr lang="en-US" sz="1330" dirty="0"/>
              </a:p>
            </p:txBody>
          </p:sp>
          <p:sp>
            <p:nvSpPr>
              <p:cNvPr id="10" name="Text 8"/>
              <p:cNvSpPr/>
              <p:nvPr/>
            </p:nvSpPr>
            <p:spPr>
              <a:xfrm>
                <a:off x="187044" y="4572000"/>
                <a:ext cx="3048000" cy="109728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algn="ctr"/>
                <a:r>
                  <a:rPr lang="en-US" sz="1200" dirty="0">
                    <a:solidFill>
                      <a:srgbClr val="003366"/>
                    </a:solidFill>
                  </a:rPr>
                  <a:t>BSc. (Hons.) Data Science &amp; Artificial Intelligence</a:t>
                </a:r>
              </a:p>
              <a:p>
                <a:pPr algn="ctr"/>
                <a:r>
                  <a:rPr lang="en-US" sz="1200" dirty="0">
                    <a:solidFill>
                      <a:srgbClr val="003366"/>
                    </a:solidFill>
                  </a:rPr>
                  <a:t>Online Degree Programme</a:t>
                </a:r>
              </a:p>
            </p:txBody>
          </p:sp>
          <p:pic>
            <p:nvPicPr>
              <p:cNvPr id="32" name="Picture 31">
                <a:extLst>
                  <a:ext uri="{FF2B5EF4-FFF2-40B4-BE49-F238E27FC236}">
                    <a16:creationId xmlns:a16="http://schemas.microsoft.com/office/drawing/2014/main" id="{64F0957D-3F23-4706-88FD-94B6648BF3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71098" y="292608"/>
                <a:ext cx="2879893" cy="2889504"/>
              </a:xfrm>
              <a:prstGeom prst="rect">
                <a:avLst/>
              </a:prstGeom>
            </p:spPr>
          </p:pic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BA530B8-A3A2-4978-A35E-7D117B7D701A}"/>
              </a:ext>
            </a:extLst>
          </p:cNvPr>
          <p:cNvGrpSpPr/>
          <p:nvPr/>
        </p:nvGrpSpPr>
        <p:grpSpPr>
          <a:xfrm>
            <a:off x="3794241" y="2996670"/>
            <a:ext cx="8107680" cy="2760457"/>
            <a:chOff x="3637171" y="2996670"/>
            <a:chExt cx="8107680" cy="2760457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A7838290-E246-4CFE-9595-3A86F1A7A8C3}"/>
                </a:ext>
              </a:extLst>
            </p:cNvPr>
            <p:cNvGrpSpPr/>
            <p:nvPr/>
          </p:nvGrpSpPr>
          <p:grpSpPr>
            <a:xfrm>
              <a:off x="3637171" y="2996670"/>
              <a:ext cx="2316480" cy="2760456"/>
              <a:chOff x="3560971" y="2931943"/>
              <a:chExt cx="2316480" cy="2760456"/>
            </a:xfrm>
          </p:grpSpPr>
          <p:sp>
            <p:nvSpPr>
              <p:cNvPr id="16" name="Text 14"/>
              <p:cNvSpPr/>
              <p:nvPr/>
            </p:nvSpPr>
            <p:spPr>
              <a:xfrm>
                <a:off x="3560971" y="2931943"/>
                <a:ext cx="231648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b="1" dirty="0">
                    <a:solidFill>
                      <a:srgbClr val="C8960C"/>
                    </a:solidFill>
                  </a:rPr>
                  <a:t>Student Name :</a:t>
                </a:r>
                <a:endParaRPr lang="en-US" dirty="0"/>
              </a:p>
            </p:txBody>
          </p:sp>
          <p:sp>
            <p:nvSpPr>
              <p:cNvPr id="18" name="Text 16"/>
              <p:cNvSpPr/>
              <p:nvPr/>
            </p:nvSpPr>
            <p:spPr>
              <a:xfrm>
                <a:off x="3560971" y="3322931"/>
                <a:ext cx="231648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b="1" dirty="0">
                    <a:solidFill>
                      <a:srgbClr val="C8960C"/>
                    </a:solidFill>
                  </a:rPr>
                  <a:t>Student ID :</a:t>
                </a:r>
                <a:endParaRPr lang="en-US" dirty="0"/>
              </a:p>
            </p:txBody>
          </p:sp>
          <p:sp>
            <p:nvSpPr>
              <p:cNvPr id="20" name="Text 18"/>
              <p:cNvSpPr/>
              <p:nvPr/>
            </p:nvSpPr>
            <p:spPr>
              <a:xfrm>
                <a:off x="3560971" y="4104907"/>
                <a:ext cx="231648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b="1" dirty="0">
                    <a:solidFill>
                      <a:srgbClr val="C8960C"/>
                    </a:solidFill>
                  </a:rPr>
                  <a:t>Programme :</a:t>
                </a:r>
                <a:endParaRPr lang="en-US" dirty="0"/>
              </a:p>
            </p:txBody>
          </p:sp>
          <p:sp>
            <p:nvSpPr>
              <p:cNvPr id="22" name="Text 20"/>
              <p:cNvSpPr/>
              <p:nvPr/>
            </p:nvSpPr>
            <p:spPr>
              <a:xfrm>
                <a:off x="3560971" y="4495895"/>
                <a:ext cx="231648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b="1" dirty="0">
                    <a:solidFill>
                      <a:srgbClr val="C8960C"/>
                    </a:solidFill>
                  </a:rPr>
                  <a:t>Course Code :</a:t>
                </a:r>
                <a:endParaRPr lang="en-US" dirty="0"/>
              </a:p>
            </p:txBody>
          </p:sp>
          <p:sp>
            <p:nvSpPr>
              <p:cNvPr id="24" name="Text 22"/>
              <p:cNvSpPr/>
              <p:nvPr/>
            </p:nvSpPr>
            <p:spPr>
              <a:xfrm>
                <a:off x="3560971" y="4886883"/>
                <a:ext cx="231648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b="1" dirty="0">
                    <a:solidFill>
                      <a:srgbClr val="C8960C"/>
                    </a:solidFill>
                  </a:rPr>
                  <a:t>Course Name :</a:t>
                </a:r>
                <a:endParaRPr lang="en-US" dirty="0"/>
              </a:p>
            </p:txBody>
          </p:sp>
          <p:sp>
            <p:nvSpPr>
              <p:cNvPr id="26" name="Text 24"/>
              <p:cNvSpPr/>
              <p:nvPr/>
            </p:nvSpPr>
            <p:spPr>
              <a:xfrm>
                <a:off x="3560971" y="5277871"/>
                <a:ext cx="231648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b="1" dirty="0">
                    <a:solidFill>
                      <a:srgbClr val="C8960C"/>
                    </a:solidFill>
                  </a:rPr>
                  <a:t>Trimester :</a:t>
                </a:r>
                <a:endParaRPr lang="en-US" dirty="0"/>
              </a:p>
            </p:txBody>
          </p:sp>
          <p:sp>
            <p:nvSpPr>
              <p:cNvPr id="30" name="Text 16">
                <a:extLst>
                  <a:ext uri="{FF2B5EF4-FFF2-40B4-BE49-F238E27FC236}">
                    <a16:creationId xmlns:a16="http://schemas.microsoft.com/office/drawing/2014/main" id="{3144A76E-D519-41CC-9D78-E279B752AECC}"/>
                  </a:ext>
                </a:extLst>
              </p:cNvPr>
              <p:cNvSpPr/>
              <p:nvPr/>
            </p:nvSpPr>
            <p:spPr>
              <a:xfrm>
                <a:off x="3560971" y="3713919"/>
                <a:ext cx="231648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b="1" dirty="0">
                    <a:solidFill>
                      <a:srgbClr val="C8960C"/>
                    </a:solidFill>
                  </a:rPr>
                  <a:t>Email ID :</a:t>
                </a:r>
                <a:endParaRPr lang="en-US" dirty="0"/>
              </a:p>
            </p:txBody>
          </p: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3734901-5BF2-49C3-910A-97290AE0D4FF}"/>
                </a:ext>
              </a:extLst>
            </p:cNvPr>
            <p:cNvGrpSpPr/>
            <p:nvPr/>
          </p:nvGrpSpPr>
          <p:grpSpPr>
            <a:xfrm>
              <a:off x="6014611" y="2996671"/>
              <a:ext cx="5730240" cy="2760456"/>
              <a:chOff x="5938411" y="2924237"/>
              <a:chExt cx="5730240" cy="2760456"/>
            </a:xfrm>
          </p:grpSpPr>
          <p:sp>
            <p:nvSpPr>
              <p:cNvPr id="17" name="Text 15"/>
              <p:cNvSpPr/>
              <p:nvPr/>
            </p:nvSpPr>
            <p:spPr>
              <a:xfrm>
                <a:off x="5938411" y="2924237"/>
                <a:ext cx="573024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dirty="0">
                    <a:solidFill>
                      <a:srgbClr val="FFFFFF"/>
                    </a:solidFill>
                  </a:rPr>
                  <a:t>François Schmitt</a:t>
                </a:r>
                <a:endParaRPr lang="en-US" dirty="0"/>
              </a:p>
            </p:txBody>
          </p:sp>
          <p:sp>
            <p:nvSpPr>
              <p:cNvPr id="19" name="Text 17"/>
              <p:cNvSpPr/>
              <p:nvPr/>
            </p:nvSpPr>
            <p:spPr>
              <a:xfrm>
                <a:off x="5938411" y="3315225"/>
                <a:ext cx="573024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dirty="0">
                    <a:solidFill>
                      <a:srgbClr val="FFFFFF"/>
                    </a:solidFill>
                  </a:rPr>
                  <a:t>23035010523</a:t>
                </a:r>
                <a:endParaRPr lang="en-US" dirty="0"/>
              </a:p>
            </p:txBody>
          </p:sp>
          <p:sp>
            <p:nvSpPr>
              <p:cNvPr id="21" name="Text 19"/>
              <p:cNvSpPr/>
              <p:nvPr/>
            </p:nvSpPr>
            <p:spPr>
              <a:xfrm>
                <a:off x="5938411" y="4097201"/>
                <a:ext cx="573024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dirty="0">
                    <a:solidFill>
                      <a:srgbClr val="FFFFFF"/>
                    </a:solidFill>
                  </a:rPr>
                  <a:t>BSc. (Hons.) Data Science &amp; AI</a:t>
                </a:r>
                <a:endParaRPr lang="en-US" dirty="0"/>
              </a:p>
            </p:txBody>
          </p:sp>
          <p:sp>
            <p:nvSpPr>
              <p:cNvPr id="23" name="Text 21"/>
              <p:cNvSpPr/>
              <p:nvPr/>
            </p:nvSpPr>
            <p:spPr>
              <a:xfrm>
                <a:off x="5938411" y="4488189"/>
                <a:ext cx="573024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dirty="0">
                    <a:solidFill>
                      <a:srgbClr val="FFFFFF"/>
                    </a:solidFill>
                  </a:rPr>
                  <a:t>[Course Code: to be filled]</a:t>
                </a:r>
                <a:endParaRPr lang="en-US" dirty="0"/>
              </a:p>
            </p:txBody>
          </p:sp>
          <p:sp>
            <p:nvSpPr>
              <p:cNvPr id="25" name="Text 23"/>
              <p:cNvSpPr/>
              <p:nvPr/>
            </p:nvSpPr>
            <p:spPr>
              <a:xfrm>
                <a:off x="5938411" y="4879177"/>
                <a:ext cx="573024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dirty="0">
                    <a:solidFill>
                      <a:srgbClr val="FFFFFF"/>
                    </a:solidFill>
                  </a:rPr>
                  <a:t>Term Project</a:t>
                </a:r>
                <a:endParaRPr lang="en-US" dirty="0"/>
              </a:p>
            </p:txBody>
          </p:sp>
          <p:sp>
            <p:nvSpPr>
              <p:cNvPr id="27" name="Text 25"/>
              <p:cNvSpPr/>
              <p:nvPr/>
            </p:nvSpPr>
            <p:spPr>
              <a:xfrm>
                <a:off x="5938411" y="5270165"/>
                <a:ext cx="573024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dirty="0">
                    <a:solidFill>
                      <a:srgbClr val="FFFFFF"/>
                    </a:solidFill>
                  </a:rPr>
                  <a:t>IX</a:t>
                </a:r>
                <a:endParaRPr lang="en-US" dirty="0"/>
              </a:p>
            </p:txBody>
          </p:sp>
          <p:sp>
            <p:nvSpPr>
              <p:cNvPr id="33" name="Text 17">
                <a:extLst>
                  <a:ext uri="{FF2B5EF4-FFF2-40B4-BE49-F238E27FC236}">
                    <a16:creationId xmlns:a16="http://schemas.microsoft.com/office/drawing/2014/main" id="{D9C22DD5-566E-4E5C-B5B7-EF56DE8DF892}"/>
                  </a:ext>
                </a:extLst>
              </p:cNvPr>
              <p:cNvSpPr/>
              <p:nvPr/>
            </p:nvSpPr>
            <p:spPr>
              <a:xfrm>
                <a:off x="5938411" y="3706213"/>
                <a:ext cx="5730240" cy="41452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dirty="0">
                    <a:solidFill>
                      <a:srgbClr val="FFFFFF"/>
                    </a:solidFill>
                  </a:rPr>
                  <a:t>f.schmitt@op.iitg.ac.in</a:t>
                </a:r>
                <a:endParaRPr lang="en-US" dirty="0"/>
              </a:p>
            </p:txBody>
          </p:sp>
        </p:grpSp>
      </p:grpSp>
      <p:sp>
        <p:nvSpPr>
          <p:cNvPr id="14" name="Text 12"/>
          <p:cNvSpPr/>
          <p:nvPr/>
        </p:nvSpPr>
        <p:spPr>
          <a:xfrm>
            <a:off x="3560971" y="711756"/>
            <a:ext cx="81686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200" b="1" dirty="0">
                <a:solidFill>
                  <a:srgbClr val="FFFFFF"/>
                </a:solidFill>
              </a:rPr>
              <a:t>Forecasting Daily Equity Volatility: Can Machine Learning Beat Classical Models?</a:t>
            </a:r>
            <a:endParaRPr lang="en-US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03366"/>
                </a:solidFill>
                <a:latin typeface="Calibri"/>
              </a:rPr>
              <a:t>The Problem: One-Day-Ahead Volatility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78992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C8960C"/>
                </a:solidFill>
                <a:latin typeface="Calibri"/>
              </a:rPr>
              <a:t>Why forecast volatility, and why is it hard?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37360"/>
            <a:ext cx="548640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C8960C"/>
                </a:solidFill>
                <a:latin typeface="Calibri"/>
              </a:rPr>
              <a:t>Goal: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predict tomorrow's return variance for the S&amp;P 500, using only information available today.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C8960C"/>
                </a:solidFill>
                <a:latin typeface="Calibri"/>
              </a:rPr>
              <a:t>Why it matters: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volatility drives option pricing, value-at-risk, margins and position sizing.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C8960C"/>
                </a:solidFill>
                <a:latin typeface="Calibri"/>
              </a:rPr>
              <a:t>The asymmetry: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the direction of returns is unpredictable, but their magnitude is strongly persistent.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C8960C"/>
                </a:solidFill>
                <a:latin typeface="Calibri"/>
              </a:rPr>
              <a:t>The catch: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true volatility is never observed. We score against the noisy squared-return proxy.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C8960C"/>
                </a:solidFill>
                <a:latin typeface="Calibri"/>
              </a:rPr>
              <a:t>The question: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can ML (XGBoost) and deep learning (LSTM) beat classical GARCH-type baselines?</a:t>
            </a:r>
          </a:p>
        </p:txBody>
      </p:sp>
      <p:pic>
        <p:nvPicPr>
          <p:cNvPr id="5" name="Picture 4" descr="fig_correl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589928"/>
            <a:ext cx="5394960" cy="17695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63640" y="5257800"/>
            <a:ext cx="5394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1">
                <a:solidFill>
                  <a:srgbClr val="555555"/>
                </a:solidFill>
                <a:latin typeface="Calibri"/>
              </a:rPr>
              <a:t>Returns show no autocorrelation; absolute returns do — volatility clusters. That persistence is the only signal any model exploits.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03366"/>
                </a:solidFill>
                <a:latin typeface="Calibri"/>
              </a:rPr>
              <a:t>Tools &amp; Technologies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920240"/>
            <a:ext cx="2578608" cy="2743200"/>
          </a:xfrm>
          <a:prstGeom prst="round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2148840"/>
            <a:ext cx="2176272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003366"/>
                </a:solidFill>
                <a:latin typeface="Calibri"/>
              </a:rPr>
              <a:t>Language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Python 3.13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46704" y="1920240"/>
            <a:ext cx="2578608" cy="2743200"/>
          </a:xfrm>
          <a:prstGeom prst="round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47872" y="2148840"/>
            <a:ext cx="2176272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003366"/>
                </a:solidFill>
                <a:latin typeface="Calibri"/>
              </a:rPr>
              <a:t>Data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pandas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NumPy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yfinance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0488" y="1920240"/>
            <a:ext cx="2578608" cy="2743200"/>
          </a:xfrm>
          <a:prstGeom prst="round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91656" y="2148840"/>
            <a:ext cx="2176272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003366"/>
                </a:solidFill>
                <a:latin typeface="Calibri"/>
              </a:rPr>
              <a:t>Models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arch (GARCH)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XGBoost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PyTorch (LSTM)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statsmodels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34272" y="1920240"/>
            <a:ext cx="2578608" cy="2743200"/>
          </a:xfrm>
          <a:prstGeom prst="round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0" y="2148840"/>
            <a:ext cx="2176272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 b="1" i="0">
                <a:solidFill>
                  <a:srgbClr val="003366"/>
                </a:solidFill>
                <a:latin typeface="Calibri"/>
              </a:rPr>
              <a:t>Workflow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Jupyter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VS Code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Git / GitHub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LaTeX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89788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Five heavy model fits run in parallel processes; the full pipeline reproduces end-to-end in about one minute.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03366"/>
                </a:solidFill>
                <a:latin typeface="Calibri"/>
              </a:rPr>
              <a:t>Dataset: S&amp;P 500 Daily Returns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78992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C8960C"/>
                </a:solidFill>
                <a:latin typeface="Calibri"/>
              </a:rPr>
              <a:t>Source: Yahoo Finance (^GSPC), auto-adjusted close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2578608" cy="1554480"/>
          </a:xfrm>
          <a:prstGeom prst="roundRect">
            <a:avLst/>
          </a:prstGeom>
          <a:solidFill>
            <a:srgbClr val="F7E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011680"/>
            <a:ext cx="2578608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3366"/>
                </a:solidFill>
                <a:latin typeface="Calibri"/>
              </a:rPr>
              <a:t>4,277</a:t>
            </a:r>
          </a:p>
          <a:p>
            <a:pPr algn="ctr"/>
            <a:r>
              <a:rPr sz="1300" b="0" i="0">
                <a:solidFill>
                  <a:srgbClr val="555555"/>
                </a:solidFill>
                <a:latin typeface="Calibri"/>
              </a:rPr>
              <a:t>trading days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6704" y="1828800"/>
            <a:ext cx="2578608" cy="1554480"/>
          </a:xfrm>
          <a:prstGeom prst="roundRect">
            <a:avLst/>
          </a:prstGeom>
          <a:solidFill>
            <a:srgbClr val="F7E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46704" y="2011680"/>
            <a:ext cx="2578608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3366"/>
                </a:solidFill>
                <a:latin typeface="Calibri"/>
              </a:rPr>
              <a:t>2008–2024</a:t>
            </a:r>
          </a:p>
          <a:p>
            <a:pPr algn="ctr"/>
            <a:r>
              <a:rPr sz="1300" b="0" i="0">
                <a:solidFill>
                  <a:srgbClr val="555555"/>
                </a:solidFill>
                <a:latin typeface="Calibri"/>
              </a:rPr>
              <a:t>17 years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0488" y="1828800"/>
            <a:ext cx="2578608" cy="1554480"/>
          </a:xfrm>
          <a:prstGeom prst="roundRect">
            <a:avLst/>
          </a:prstGeom>
          <a:solidFill>
            <a:srgbClr val="F7E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90488" y="2011680"/>
            <a:ext cx="2578608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3366"/>
                </a:solidFill>
                <a:latin typeface="Calibri"/>
              </a:rPr>
              <a:t>70 / 30</a:t>
            </a:r>
          </a:p>
          <a:p>
            <a:pPr algn="ctr"/>
            <a:r>
              <a:rPr sz="1300" b="0" i="0">
                <a:solidFill>
                  <a:srgbClr val="555555"/>
                </a:solidFill>
                <a:latin typeface="Calibri"/>
              </a:rPr>
              <a:t>train / test split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34272" y="1828800"/>
            <a:ext cx="2578608" cy="1554480"/>
          </a:xfrm>
          <a:prstGeom prst="roundRect">
            <a:avLst/>
          </a:prstGeom>
          <a:solidFill>
            <a:srgbClr val="F7E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34272" y="2011680"/>
            <a:ext cx="2578608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3366"/>
                </a:solidFill>
                <a:latin typeface="Calibri"/>
              </a:rPr>
              <a:t>1,284</a:t>
            </a:r>
          </a:p>
          <a:p>
            <a:pPr algn="ctr"/>
            <a:r>
              <a:rPr sz="1300" b="0" i="0">
                <a:solidFill>
                  <a:srgbClr val="555555"/>
                </a:solidFill>
                <a:latin typeface="Calibri"/>
              </a:rPr>
              <a:t>out-of-sample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749039"/>
            <a:ext cx="111556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C8960C"/>
                </a:solidFill>
                <a:latin typeface="Calibri"/>
              </a:rPr>
              <a:t>Returns: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daily log returns r = ln(P_t / P_{t-1}); the standard object for volatility models.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C8960C"/>
                </a:solidFill>
                <a:latin typeface="Calibri"/>
              </a:rPr>
              <a:t>Preprocessing: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log-difference adjusted closes; drop the first NaN. No other cleaning needed.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C8960C"/>
                </a:solidFill>
                <a:latin typeface="Calibri"/>
              </a:rPr>
              <a:t>Split: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the final 30% (2019-11-21 to 2024-12-30) is a strict walk-forward test window shared by every model.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C8960C"/>
                </a:solidFill>
                <a:latin typeface="Calibri"/>
              </a:rPr>
              <a:t>Stress test: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the test window contains the COVID-2020 crash and the 2022 bear market.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03366"/>
                </a:solidFill>
                <a:latin typeface="Calibri"/>
              </a:rPr>
              <a:t>Approach &amp;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78992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C8960C"/>
                </a:solidFill>
                <a:latin typeface="Calibri"/>
              </a:rPr>
              <a:t>The modular volforecast package — no look-ahead anywhere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5349240" cy="4114800"/>
          </a:xfrm>
          <a:prstGeom prst="round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057400"/>
            <a:ext cx="489204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700" b="1" i="0">
                <a:solidFill>
                  <a:srgbClr val="003366"/>
                </a:solidFill>
                <a:latin typeface="Calibri"/>
              </a:rPr>
              <a:t>Pipeline (volforecast/)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2B2B2B"/>
                </a:solidFill>
                <a:latin typeface="Calibri"/>
              </a:rPr>
              <a:t>config · data · metrics · features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2B2B2B"/>
                </a:solidFill>
                <a:latin typeface="Calibri"/>
              </a:rPr>
              <a:t>baselines · ml_xgboost · ml_lstm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2B2B2B"/>
                </a:solidFill>
                <a:latin typeface="Calibri"/>
              </a:rPr>
              <a:t>evaluate · pipeline (process-parallel)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2B2B2B"/>
                </a:solidFill>
                <a:latin typeface="Calibri"/>
              </a:rPr>
              <a:t>Walk-forward: refit periodically, roll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2B2B2B"/>
                </a:solidFill>
                <a:latin typeface="Calibri"/>
              </a:rPr>
              <a:t>forward on observed returns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828800"/>
            <a:ext cx="5623560" cy="4114800"/>
          </a:xfrm>
          <a:prstGeom prst="round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2057400"/>
            <a:ext cx="516636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700" b="1" i="0">
                <a:solidFill>
                  <a:srgbClr val="003366"/>
                </a:solidFill>
                <a:latin typeface="Calibri"/>
              </a:rPr>
              <a:t>Eight models compared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8960C"/>
                </a:solidFill>
                <a:latin typeface="Calibri"/>
              </a:rPr>
              <a:t>Baselines: 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Naive, Rolling(21), EWMA(0.94)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8960C"/>
                </a:solidFill>
                <a:latin typeface="Calibri"/>
              </a:rPr>
              <a:t>GARCH family: 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GARCH, GJR-GARCH, EGARCH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8960C"/>
                </a:solidFill>
                <a:latin typeface="Calibri"/>
              </a:rPr>
              <a:t>Machine learning: 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walk-forward XGBoost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8960C"/>
                </a:solidFill>
                <a:latin typeface="Calibri"/>
              </a:rPr>
              <a:t>Deep learning: 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LSTM (early stopping)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8960C"/>
                </a:solidFill>
                <a:latin typeface="Calibri"/>
              </a:rPr>
              <a:t>Scored by: 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RMSE, MAE, QLIKE + Diebold–Mariano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03366"/>
                </a:solidFill>
                <a:latin typeface="Calibri"/>
              </a:rPr>
              <a:t>Results: Leaderboard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78992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C8960C"/>
                </a:solidFill>
                <a:latin typeface="Calibri"/>
              </a:rPr>
              <a:t>Out-of-sample, 1,284 test days, sorted by QLIKE (lower = better)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828800"/>
          <a:ext cx="54864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1051560"/>
                <a:gridCol w="1051560"/>
                <a:gridCol w="1051560"/>
              </a:tblGrid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73152" marR="45720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RMSE</a:t>
                      </a:r>
                    </a:p>
                  </a:txBody>
                  <a:tcPr marL="73152" marR="45720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MAE</a:t>
                      </a:r>
                    </a:p>
                  </a:txBody>
                  <a:tcPr marL="73152" marR="45720" marT="18288" marB="18288" anchor="ctr">
                    <a:solidFill>
                      <a:srgbClr val="00336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QLIKE</a:t>
                      </a:r>
                    </a:p>
                  </a:txBody>
                  <a:tcPr marL="73152" marR="45720" marT="18288" marB="18288" anchor="ctr">
                    <a:solidFill>
                      <a:srgbClr val="003366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03366"/>
                          </a:solidFill>
                          <a:latin typeface="Calibri"/>
                        </a:rPr>
                        <a:t>GARCH(1,1)</a:t>
                      </a:r>
                    </a:p>
                  </a:txBody>
                  <a:tcPr marL="73152" marR="45720" marT="18288" marB="18288" anchor="ctr">
                    <a:solidFill>
                      <a:srgbClr val="F7EF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03366"/>
                          </a:solidFill>
                          <a:latin typeface="Calibri"/>
                        </a:rPr>
                        <a:t>0.00887</a:t>
                      </a:r>
                    </a:p>
                  </a:txBody>
                  <a:tcPr marL="73152" marR="45720" marT="18288" marB="18288" anchor="ctr">
                    <a:solidFill>
                      <a:srgbClr val="F7EF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03366"/>
                          </a:solidFill>
                          <a:latin typeface="Calibri"/>
                        </a:rPr>
                        <a:t>0.00633</a:t>
                      </a:r>
                    </a:p>
                  </a:txBody>
                  <a:tcPr marL="73152" marR="45720" marT="18288" marB="18288" anchor="ctr">
                    <a:solidFill>
                      <a:srgbClr val="F7EF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03366"/>
                          </a:solidFill>
                          <a:latin typeface="Calibri"/>
                        </a:rPr>
                        <a:t>1.4879</a:t>
                      </a:r>
                    </a:p>
                  </a:txBody>
                  <a:tcPr marL="73152" marR="45720" marT="18288" marB="18288" anchor="ctr">
                    <a:solidFill>
                      <a:srgbClr val="F7EFDD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EGARCH(1,1)</a:t>
                      </a:r>
                    </a:p>
                  </a:txBody>
                  <a:tcPr marL="73152" marR="45720" marT="18288" marB="18288" anchor="ctr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0.00852</a:t>
                      </a:r>
                    </a:p>
                  </a:txBody>
                  <a:tcPr marL="73152" marR="45720" marT="18288" marB="18288" anchor="ctr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0.00603</a:t>
                      </a:r>
                    </a:p>
                  </a:txBody>
                  <a:tcPr marL="73152" marR="45720" marT="18288" marB="18288" anchor="ctr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1.4943</a:t>
                      </a:r>
                    </a:p>
                  </a:txBody>
                  <a:tcPr marL="73152" marR="45720" marT="18288" marB="18288" anchor="ctr">
                    <a:solidFill>
                      <a:srgbClr val="ECF1F6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GJR-GARCH(1,1)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0.00881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0.00611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1.4974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EWMA(0.94)</a:t>
                      </a:r>
                    </a:p>
                  </a:txBody>
                  <a:tcPr marL="73152" marR="45720" marT="18288" marB="18288" anchor="ctr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0.00934</a:t>
                      </a:r>
                    </a:p>
                  </a:txBody>
                  <a:tcPr marL="73152" marR="45720" marT="18288" marB="18288" anchor="ctr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0.00657</a:t>
                      </a:r>
                    </a:p>
                  </a:txBody>
                  <a:tcPr marL="73152" marR="45720" marT="18288" marB="18288" anchor="ctr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1.5161</a:t>
                      </a:r>
                    </a:p>
                  </a:txBody>
                  <a:tcPr marL="73152" marR="45720" marT="18288" marB="18288" anchor="ctr">
                    <a:solidFill>
                      <a:srgbClr val="ECF1F6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0.00816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0.00547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1.5567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Rolling(21)</a:t>
                      </a:r>
                    </a:p>
                  </a:txBody>
                  <a:tcPr marL="73152" marR="45720" marT="18288" marB="18288" anchor="ctr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0.00948</a:t>
                      </a:r>
                    </a:p>
                  </a:txBody>
                  <a:tcPr marL="73152" marR="45720" marT="18288" marB="18288" anchor="ctr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0.00646</a:t>
                      </a:r>
                    </a:p>
                  </a:txBody>
                  <a:tcPr marL="73152" marR="45720" marT="18288" marB="18288" anchor="ctr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1.5798</a:t>
                      </a:r>
                    </a:p>
                  </a:txBody>
                  <a:tcPr marL="73152" marR="45720" marT="18288" marB="18288" anchor="ctr">
                    <a:solidFill>
                      <a:srgbClr val="ECF1F6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LSTM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0.00965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0.00570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1.5915</a:t>
                      </a:r>
                    </a:p>
                  </a:txBody>
                  <a:tcPr marL="73152" marR="45720" marT="18288" marB="18288" anchor="ctr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Naive</a:t>
                      </a:r>
                    </a:p>
                  </a:txBody>
                  <a:tcPr marL="73152" marR="45720" marT="18288" marB="18288" anchor="ctr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0.01114</a:t>
                      </a:r>
                    </a:p>
                  </a:txBody>
                  <a:tcPr marL="73152" marR="45720" marT="18288" marB="18288" anchor="ctr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0.00747</a:t>
                      </a:r>
                    </a:p>
                  </a:txBody>
                  <a:tcPr marL="73152" marR="45720" marT="18288" marB="18288" anchor="ctr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B2B2B"/>
                          </a:solidFill>
                          <a:latin typeface="Calibri"/>
                        </a:rPr>
                        <a:t>1192.7</a:t>
                      </a:r>
                    </a:p>
                  </a:txBody>
                  <a:tcPr marL="73152" marR="45720" marT="18288" marB="18288" anchor="ctr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fig_forecasts_vs_realiz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331720"/>
            <a:ext cx="54864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72200" y="516636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1">
                <a:solidFill>
                  <a:srgbClr val="555555"/>
                </a:solidFill>
                <a:latin typeface="Calibri"/>
              </a:rPr>
              <a:t>GARCH(1,1) wins on QLIKE. XGBoost has the best RMSE/MAE but ranks 5th on QLIKE — it is accurate on average yet slow at spikes.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03366"/>
                </a:solidFill>
                <a:latin typeface="Calibri"/>
              </a:rPr>
              <a:t>Evaluation &amp; Significance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00200"/>
            <a:ext cx="548640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C8960C"/>
                </a:solidFill>
                <a:latin typeface="Calibri"/>
              </a:rPr>
              <a:t>QLIKE (headline):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robust to proxy noise; punishes under-prediction of variance.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C8960C"/>
                </a:solidFill>
                <a:latin typeface="Calibri"/>
              </a:rPr>
              <a:t>RMSE / MAE: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point accuracy on the volatility scale, for interpretability.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C8960C"/>
                </a:solidFill>
                <a:latin typeface="Calibri"/>
              </a:rPr>
              <a:t>Diebold–Mariano: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tests whether a loss gap is statistically real, not luck.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977639"/>
            <a:ext cx="2743200" cy="1371600"/>
          </a:xfrm>
          <a:prstGeom prst="roundRect">
            <a:avLst/>
          </a:prstGeom>
          <a:solidFill>
            <a:srgbClr val="F7E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4142231"/>
            <a:ext cx="2743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003366"/>
                </a:solidFill>
                <a:latin typeface="Calibri"/>
              </a:rPr>
              <a:t>QLIKE 1.488</a:t>
            </a:r>
          </a:p>
          <a:p>
            <a:pPr algn="ctr"/>
            <a:r>
              <a:rPr sz="1200" b="0" i="0">
                <a:solidFill>
                  <a:srgbClr val="555555"/>
                </a:solidFill>
                <a:latin typeface="Calibri"/>
              </a:rPr>
              <a:t>GARCH(1,1), best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20440" y="3977639"/>
            <a:ext cx="2743200" cy="1371600"/>
          </a:xfrm>
          <a:prstGeom prst="roundRect">
            <a:avLst/>
          </a:prstGeom>
          <a:solidFill>
            <a:srgbClr val="F7E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20440" y="4142231"/>
            <a:ext cx="27432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003366"/>
                </a:solidFill>
                <a:latin typeface="Calibri"/>
              </a:rPr>
              <a:t>p = 0.87</a:t>
            </a:r>
          </a:p>
          <a:p>
            <a:pPr algn="ctr"/>
            <a:r>
              <a:rPr sz="1200" b="0" i="0">
                <a:solidFill>
                  <a:srgbClr val="555555"/>
                </a:solidFill>
                <a:latin typeface="Calibri"/>
              </a:rPr>
              <a:t>GARCH vs EGARCH: not significant</a:t>
            </a:r>
          </a:p>
        </p:txBody>
      </p:sp>
      <p:pic>
        <p:nvPicPr>
          <p:cNvPr id="8" name="Picture 7" descr="fig_best_vs_realiz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834640"/>
            <a:ext cx="5486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03366"/>
                </a:solidFill>
                <a:latin typeface="Calibri"/>
              </a:rPr>
              <a:t>Conclusion &amp;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0"/>
            <a:ext cx="65836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C8960C"/>
                </a:solidFill>
                <a:latin typeface="Calibri"/>
              </a:rPr>
              <a:t>Finding: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a monthly-refit GARCH(1,1) delivers the best QLIKE; no learned model beats the GARCH family on the risk-relevant metric.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C8960C"/>
                </a:solidFill>
                <a:latin typeface="Calibri"/>
              </a:rPr>
              <a:t>Nuance: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XGBoost wins RMSE and MAE — the learned models are competitive, just beaten where it matters.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C8960C"/>
                </a:solidFill>
                <a:latin typeface="Calibri"/>
              </a:rPr>
              <a:t>Why: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the signal is one-dimensional and small-data; GARCH is shaped exactly for it and fit by maximum likelihood.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C8960C"/>
                </a:solidFill>
                <a:latin typeface="Calibri"/>
              </a:rPr>
              <a:t>Learned: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a leak-free walk-forward harness matters more than model complexity, and the metric defines what “better” means.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C8960C"/>
                </a:solidFill>
                <a:latin typeface="Calibri"/>
              </a:rPr>
              <a:t>Future work:  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intraday realized variance, exogenous features (VIX), multi-asset pooling, hybrid GARCH+ML.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60920" y="1920240"/>
            <a:ext cx="4251960" cy="2103120"/>
          </a:xfrm>
          <a:prstGeom prst="roundRect">
            <a:avLst/>
          </a:prstGeom>
          <a:solidFill>
            <a:srgbClr val="EC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0" y="2148840"/>
            <a:ext cx="38404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003366"/>
                </a:solidFill>
                <a:latin typeface="Calibri"/>
              </a:rPr>
              <a:t>Project artifacts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C8960C"/>
                </a:solidFill>
                <a:latin typeface="Calibri"/>
              </a:rPr>
              <a:t>Code: 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github.com/iitgF/T9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C8960C"/>
                </a:solidFill>
                <a:latin typeface="Calibri"/>
              </a:rPr>
              <a:t>Report: 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LaTeX (Overleaf)</a:t>
            </a:r>
          </a:p>
          <a:p>
            <a:pPr>
              <a:spcAft>
                <a:spcPts val="600"/>
              </a:spcAft>
            </a:pPr>
            <a:r>
              <a:rPr sz="1300" b="1" i="0">
                <a:solidFill>
                  <a:srgbClr val="C8960C"/>
                </a:solidFill>
                <a:latin typeface="Calibri"/>
              </a:rPr>
              <a:t>Notebook: 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consolidated, runs end-to-end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155ec88-263f-4c39-a8c1-728a7cfb48aa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FAA81BCE9F72A49B8745383D9CBDD86" ma:contentTypeVersion="10" ma:contentTypeDescription="Create a new document." ma:contentTypeScope="" ma:versionID="38efbece290d13bcb890d7b5b5e7daf6">
  <xsd:schema xmlns:xsd="http://www.w3.org/2001/XMLSchema" xmlns:xs="http://www.w3.org/2001/XMLSchema" xmlns:p="http://schemas.microsoft.com/office/2006/metadata/properties" xmlns:ns3="1155ec88-263f-4c39-a8c1-728a7cfb48aa" targetNamespace="http://schemas.microsoft.com/office/2006/metadata/properties" ma:root="true" ma:fieldsID="a090796afe0946f7c0b9223c3a320f09" ns3:_="">
    <xsd:import namespace="1155ec88-263f-4c39-a8c1-728a7cfb48a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_activity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155ec88-263f-4c39-a8c1-728a7cfb48a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01E4C34-82E3-43E3-A462-EEEF49904C74}">
  <ds:schemaRefs>
    <ds:schemaRef ds:uri="http://purl.org/dc/dcmitype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purl.org/dc/terms/"/>
    <ds:schemaRef ds:uri="1155ec88-263f-4c39-a8c1-728a7cfb48aa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E5EC0F99-FA04-4FE2-BD0D-3F8C47651CD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C34DA7C-63B1-4CA3-846D-1B505C91C99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155ec88-263f-4c39-a8c1-728a7cfb48a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95</Words>
  <Application>Microsoft Office PowerPoint</Application>
  <PresentationFormat>Widescreen</PresentationFormat>
  <Paragraphs>20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Kashmiri Prakash Jadhav</dc:creator>
  <cp:lastModifiedBy>Ankan Rabha</cp:lastModifiedBy>
  <cp:revision>8</cp:revision>
  <cp:lastPrinted>2026-02-26T05:23:59Z</cp:lastPrinted>
  <dcterms:created xsi:type="dcterms:W3CDTF">2026-02-25T06:24:34Z</dcterms:created>
  <dcterms:modified xsi:type="dcterms:W3CDTF">2026-02-26T09:57:08Z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0x010100BFAA81BCE9F72A49B8745383D9CBDD86</vt:lpwstr>
  </property>
</Properties>
</file>