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257" r:id="rId5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3814" autoAdjust="0"/>
    <p:restoredTop sz="94660"/>
  </p:normalViewPr>
  <p:slideViewPr>
    <p:cSldViewPr snapToGrid="0">
      <p:cViewPr>
        <p:scale>
          <a:sx n="106" d="100"/>
          <a:sy n="106" d="100"/>
        </p:scale>
        <p:origin x="1536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D0E90B-C79E-46E2-8898-EC987AA8CA9E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5DB64-F626-4811-8DA5-D75A57D0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8728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77A54-BD82-40BE-8452-61ABBC0066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6922B4-922F-4407-8DD7-3D2181C52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BB4A2-7835-4E85-8919-8A38859F4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482F31-385F-4FD0-A3F1-4D3B3481B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362FE-317C-42F6-A494-D950F370F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40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099B9-BDC6-4020-AAD0-8FA427C4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3C9DD-A452-4095-BEF6-2D2988499B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29807-80C3-4A2C-BA6A-4CCB0D5D4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C6F4F-6F7D-4773-8E8E-94FB2C036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1534D5-6B38-463B-90B6-CF205DA3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158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B2535-CB85-4CD2-BA8A-DA2748D5B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500436-781B-41FA-B050-11BFC310E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17D20-175C-4889-9329-131BE7CA9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7EAAC1-E158-4B7F-A1FB-CD6697E04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4E351-E2DA-4C7D-A99A-0BB057963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1847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832AA-BCEB-4BE5-BF3E-CFFEA7EF2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F5816-F92D-4EFC-BF3C-68D9B54079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E5A7A4-86DC-44DD-B1E3-FB37E3AF6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5E3EE6-0A35-4F9A-851C-9234C42A6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D4498-F404-43EE-8317-046E46166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77D77-6E07-44B4-A81B-867B8ED6C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928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D6927-F6BD-4423-8C65-7D03AA44E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073A0E-EEC0-4B1B-877A-9E2DEEE5D5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5FAABB-234D-4C22-9130-9DD1DAB891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B1B6D6-8DCF-458A-9592-DE9382EFC6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ABA77-349C-48D4-9C99-FBBA39B2CE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2411EA-47D3-42D3-B492-670F9E50D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B94737-7BAF-4ECE-A0DF-BE3A51868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C45649-6FE7-4E99-83F3-6E54712ED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565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1223F-5037-45F9-BF49-92C1BDC6E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631E25-5FE4-478C-8983-75905B80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D6464-E907-448F-BD7B-9DCF5BA0F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D837B2-F6B5-4223-87D1-E6D34619F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3592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5B3A76-6847-464D-80D9-5E38EC2B3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07A1B2-BF03-49C7-88B4-25E905EAB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AF3BDE-A013-4D13-B522-FB23FACE7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25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1C24D-35D4-4405-A2F6-BAA48855C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7E0FA9-027B-48F4-A799-E57BFE191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FFF73D-8C51-4836-B9F9-67883F72A9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5DE97-314A-4F6E-A916-132FE643E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668E7-96E6-4EB2-B15E-F9E3355BA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C7AE19-CE0D-4086-BE1F-220B8C64A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03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184A9-1713-40AC-A3A6-C3EB22158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C02AA-8B2A-455E-B870-14F801B9B5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C71EB9-3D0E-41E6-9B27-1B5050802E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4AA6C-F900-4A4A-B3A1-ED4C16B22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AD3CA-B3A8-4A3B-AA71-7631A4CD3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A119A-BFB1-4FB9-9504-BA8441DE5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71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9C09D-1C5C-4073-A043-D9C2B3E91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8DB4FE-AD34-45AA-BE3A-902060967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770A8-6731-4D3D-A809-28BCCED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B280D-BFCE-4325-8CB1-B8ABB3243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BC847B-2B41-4B8D-8EF7-38D73BEC6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282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ED2FCE-B436-4F65-A082-F0C397A75A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7B8328-6BAF-4A01-BAF2-1250EB8B6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FCA566-4B50-4C75-A1E7-5311DC91F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8F59F-CFBA-4F7B-9143-8479FD477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FA195-9B2A-49A3-A584-A8E4E792A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152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892976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B0F009-7144-4FDD-BB30-A876A1C59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A4960-7764-4EE8-B652-7698ADE142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6F839-F3E3-495C-9209-BB0EF91AA4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CA25FE-24F4-425D-9352-8A0572A026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78BF00-1A8A-4F69-84EA-60BA2F0EC8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34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EE2BE142-6219-4A32-A8D4-FAE1D2C0A131}"/>
              </a:ext>
            </a:extLst>
          </p:cNvPr>
          <p:cNvGrpSpPr/>
          <p:nvPr/>
        </p:nvGrpSpPr>
        <p:grpSpPr>
          <a:xfrm>
            <a:off x="0" y="-7749"/>
            <a:ext cx="12192000" cy="6858000"/>
            <a:chOff x="0" y="0"/>
            <a:chExt cx="12192000" cy="6858000"/>
          </a:xfrm>
        </p:grpSpPr>
        <p:sp>
          <p:nvSpPr>
            <p:cNvPr id="4" name="Shape 2"/>
            <p:cNvSpPr/>
            <p:nvPr/>
          </p:nvSpPr>
          <p:spPr>
            <a:xfrm>
              <a:off x="0" y="146304"/>
              <a:ext cx="3413760" cy="655929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370311" y="4526280"/>
              <a:ext cx="2663405" cy="48768"/>
            </a:xfrm>
            <a:prstGeom prst="rect">
              <a:avLst/>
            </a:prstGeom>
            <a:solidFill>
              <a:srgbClr val="C8960C"/>
            </a:solidFill>
            <a:ln w="12700">
              <a:solidFill>
                <a:srgbClr val="C8960C"/>
              </a:solidFill>
              <a:prstDash val="solid"/>
            </a:ln>
          </p:spPr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51FD539-0B18-4B17-AC3E-6C2E56F41895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sp>
            <p:nvSpPr>
              <p:cNvPr id="2" name="Shape 0"/>
              <p:cNvSpPr/>
              <p:nvPr/>
            </p:nvSpPr>
            <p:spPr>
              <a:xfrm>
                <a:off x="0" y="0"/>
                <a:ext cx="12192000" cy="146304"/>
              </a:xfrm>
              <a:prstGeom prst="rect">
                <a:avLst/>
              </a:prstGeom>
              <a:solidFill>
                <a:srgbClr val="C8960C"/>
              </a:solidFill>
              <a:ln w="12700">
                <a:solidFill>
                  <a:srgbClr val="C8960C"/>
                </a:solidFill>
                <a:prstDash val="solid"/>
              </a:ln>
            </p:spPr>
          </p:sp>
          <p:sp>
            <p:nvSpPr>
              <p:cNvPr id="3" name="Shape 1"/>
              <p:cNvSpPr/>
              <p:nvPr/>
            </p:nvSpPr>
            <p:spPr>
              <a:xfrm>
                <a:off x="0" y="6705600"/>
                <a:ext cx="12192000" cy="152400"/>
              </a:xfrm>
              <a:prstGeom prst="rect">
                <a:avLst/>
              </a:prstGeom>
              <a:solidFill>
                <a:srgbClr val="C8960C"/>
              </a:solidFill>
              <a:ln w="12700">
                <a:solidFill>
                  <a:srgbClr val="C8960C"/>
                </a:solidFill>
                <a:prstDash val="solid"/>
              </a:ln>
            </p:spPr>
          </p:sp>
          <p:sp>
            <p:nvSpPr>
              <p:cNvPr id="11" name="Shape 9"/>
              <p:cNvSpPr/>
              <p:nvPr/>
            </p:nvSpPr>
            <p:spPr>
              <a:xfrm>
                <a:off x="3315642" y="146304"/>
                <a:ext cx="8876358" cy="6559296"/>
              </a:xfrm>
              <a:prstGeom prst="rect">
                <a:avLst/>
              </a:prstGeom>
              <a:solidFill>
                <a:srgbClr val="003366"/>
              </a:solidFill>
              <a:ln w="12700">
                <a:solidFill>
                  <a:srgbClr val="003366"/>
                </a:solidFill>
                <a:prstDash val="solid"/>
              </a:ln>
            </p:spPr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7E8F91F1-D33C-48E9-9439-A6687AFA7DFD}"/>
                </a:ext>
              </a:extLst>
            </p:cNvPr>
            <p:cNvGrpSpPr/>
            <p:nvPr/>
          </p:nvGrpSpPr>
          <p:grpSpPr>
            <a:xfrm>
              <a:off x="3655695" y="426720"/>
              <a:ext cx="3048000" cy="463296"/>
              <a:chOff x="3655695" y="426720"/>
              <a:chExt cx="3048000" cy="463296"/>
            </a:xfrm>
          </p:grpSpPr>
          <p:sp>
            <p:nvSpPr>
              <p:cNvPr id="12" name="Shape 10"/>
              <p:cNvSpPr/>
              <p:nvPr/>
            </p:nvSpPr>
            <p:spPr>
              <a:xfrm>
                <a:off x="3655695" y="426720"/>
                <a:ext cx="3048000" cy="463296"/>
              </a:xfrm>
              <a:prstGeom prst="rect">
                <a:avLst/>
              </a:prstGeom>
              <a:solidFill>
                <a:srgbClr val="C8960C"/>
              </a:solidFill>
              <a:ln w="12700">
                <a:solidFill>
                  <a:srgbClr val="C8960C"/>
                </a:solidFill>
                <a:prstDash val="solid"/>
              </a:ln>
            </p:spPr>
          </p:sp>
          <p:sp>
            <p:nvSpPr>
              <p:cNvPr id="13" name="Text 11"/>
              <p:cNvSpPr/>
              <p:nvPr/>
            </p:nvSpPr>
            <p:spPr>
              <a:xfrm>
                <a:off x="3794241" y="426720"/>
                <a:ext cx="2770909" cy="4632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600" b="1" dirty="0">
                    <a:solidFill>
                      <a:srgbClr val="003366"/>
                    </a:solidFill>
                  </a:rPr>
                  <a:t>INTERNSHIP/TERM PROJECT</a:t>
                </a:r>
                <a:endParaRPr lang="en-US" sz="1600" dirty="0"/>
              </a:p>
            </p:txBody>
          </p:sp>
        </p:grpSp>
        <p:sp>
          <p:nvSpPr>
            <p:cNvPr id="15" name="Shape 13"/>
            <p:cNvSpPr/>
            <p:nvPr/>
          </p:nvSpPr>
          <p:spPr>
            <a:xfrm>
              <a:off x="3533775" y="2687513"/>
              <a:ext cx="8168640" cy="50268"/>
            </a:xfrm>
            <a:prstGeom prst="rect">
              <a:avLst/>
            </a:prstGeom>
            <a:solidFill>
              <a:srgbClr val="C8960C"/>
            </a:solidFill>
            <a:ln w="12700">
              <a:solidFill>
                <a:srgbClr val="C8960C"/>
              </a:solidFill>
              <a:prstDash val="solid"/>
            </a:ln>
          </p:spPr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394E0BD-D4FA-419D-AC66-F1E64F9FA301}"/>
                </a:ext>
              </a:extLst>
            </p:cNvPr>
            <p:cNvGrpSpPr/>
            <p:nvPr/>
          </p:nvGrpSpPr>
          <p:grpSpPr>
            <a:xfrm>
              <a:off x="44169" y="445008"/>
              <a:ext cx="3212862" cy="5547360"/>
              <a:chOff x="187044" y="292608"/>
              <a:chExt cx="3048000" cy="5376672"/>
            </a:xfrm>
          </p:grpSpPr>
          <p:sp>
            <p:nvSpPr>
              <p:cNvPr id="8" name="Text 6"/>
              <p:cNvSpPr/>
              <p:nvPr/>
            </p:nvSpPr>
            <p:spPr>
              <a:xfrm>
                <a:off x="187044" y="3413760"/>
                <a:ext cx="3048000" cy="9753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1330" b="1" dirty="0">
                    <a:solidFill>
                      <a:srgbClr val="003366"/>
                    </a:solidFill>
                  </a:rPr>
                  <a:t>Indian Institute of Technology</a:t>
                </a:r>
                <a:r>
                  <a:rPr lang="en-US" sz="1330" dirty="0"/>
                  <a:t xml:space="preserve"> </a:t>
                </a:r>
                <a:r>
                  <a:rPr lang="en-US" sz="1330" b="1" dirty="0">
                    <a:solidFill>
                      <a:srgbClr val="003366"/>
                    </a:solidFill>
                  </a:rPr>
                  <a:t>Guwahati</a:t>
                </a:r>
                <a:endParaRPr lang="en-US" sz="1330" dirty="0"/>
              </a:p>
            </p:txBody>
          </p:sp>
          <p:sp>
            <p:nvSpPr>
              <p:cNvPr id="10" name="Text 8"/>
              <p:cNvSpPr/>
              <p:nvPr/>
            </p:nvSpPr>
            <p:spPr>
              <a:xfrm>
                <a:off x="187044" y="4572000"/>
                <a:ext cx="3048000" cy="10972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1200" dirty="0">
                    <a:solidFill>
                      <a:srgbClr val="003366"/>
                    </a:solidFill>
                  </a:rPr>
                  <a:t>BSc. (Hons.) Data Science &amp; Artificial Intelligence</a:t>
                </a:r>
              </a:p>
              <a:p>
                <a:pPr algn="ctr"/>
                <a:r>
                  <a:rPr lang="en-US" sz="1200" dirty="0">
                    <a:solidFill>
                      <a:srgbClr val="003366"/>
                    </a:solidFill>
                  </a:rPr>
                  <a:t>Online Degree Programme</a:t>
                </a:r>
              </a:p>
            </p:txBody>
          </p:sp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64F0957D-3F23-4706-88FD-94B6648BF3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1098" y="292608"/>
                <a:ext cx="2879893" cy="2889504"/>
              </a:xfrm>
              <a:prstGeom prst="rect">
                <a:avLst/>
              </a:prstGeom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A530B8-A3A2-4978-A35E-7D117B7D701A}"/>
              </a:ext>
            </a:extLst>
          </p:cNvPr>
          <p:cNvGrpSpPr/>
          <p:nvPr/>
        </p:nvGrpSpPr>
        <p:grpSpPr>
          <a:xfrm>
            <a:off x="3794241" y="2996670"/>
            <a:ext cx="8107680" cy="2760457"/>
            <a:chOff x="3637171" y="2996670"/>
            <a:chExt cx="8107680" cy="276045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7838290-E246-4CFE-9595-3A86F1A7A8C3}"/>
                </a:ext>
              </a:extLst>
            </p:cNvPr>
            <p:cNvGrpSpPr/>
            <p:nvPr/>
          </p:nvGrpSpPr>
          <p:grpSpPr>
            <a:xfrm>
              <a:off x="3637171" y="2996670"/>
              <a:ext cx="2316480" cy="2760456"/>
              <a:chOff x="3560971" y="2931943"/>
              <a:chExt cx="2316480" cy="2760456"/>
            </a:xfrm>
          </p:grpSpPr>
          <p:sp>
            <p:nvSpPr>
              <p:cNvPr id="16" name="Text 14"/>
              <p:cNvSpPr/>
              <p:nvPr/>
            </p:nvSpPr>
            <p:spPr>
              <a:xfrm>
                <a:off x="3560971" y="2931943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Student Name :</a:t>
                </a:r>
                <a:endParaRPr lang="en-US" dirty="0"/>
              </a:p>
            </p:txBody>
          </p:sp>
          <p:sp>
            <p:nvSpPr>
              <p:cNvPr id="18" name="Text 16"/>
              <p:cNvSpPr/>
              <p:nvPr/>
            </p:nvSpPr>
            <p:spPr>
              <a:xfrm>
                <a:off x="3560971" y="3322931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Student ID :</a:t>
                </a:r>
                <a:endParaRPr lang="en-US" dirty="0"/>
              </a:p>
            </p:txBody>
          </p:sp>
          <p:sp>
            <p:nvSpPr>
              <p:cNvPr id="20" name="Text 18"/>
              <p:cNvSpPr/>
              <p:nvPr/>
            </p:nvSpPr>
            <p:spPr>
              <a:xfrm>
                <a:off x="3560971" y="4104907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Programme :</a:t>
                </a:r>
                <a:endParaRPr lang="en-US" dirty="0"/>
              </a:p>
            </p:txBody>
          </p:sp>
          <p:sp>
            <p:nvSpPr>
              <p:cNvPr id="22" name="Text 20"/>
              <p:cNvSpPr/>
              <p:nvPr/>
            </p:nvSpPr>
            <p:spPr>
              <a:xfrm>
                <a:off x="3560971" y="4495895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Course Code :</a:t>
                </a:r>
                <a:endParaRPr lang="en-US" dirty="0"/>
              </a:p>
            </p:txBody>
          </p:sp>
          <p:sp>
            <p:nvSpPr>
              <p:cNvPr id="24" name="Text 22"/>
              <p:cNvSpPr/>
              <p:nvPr/>
            </p:nvSpPr>
            <p:spPr>
              <a:xfrm>
                <a:off x="3560971" y="4886883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Course Name :</a:t>
                </a:r>
                <a:endParaRPr lang="en-US" dirty="0"/>
              </a:p>
            </p:txBody>
          </p:sp>
          <p:sp>
            <p:nvSpPr>
              <p:cNvPr id="26" name="Text 24"/>
              <p:cNvSpPr/>
              <p:nvPr/>
            </p:nvSpPr>
            <p:spPr>
              <a:xfrm>
                <a:off x="3560971" y="5277871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Trimester :</a:t>
                </a:r>
                <a:endParaRPr lang="en-US" dirty="0"/>
              </a:p>
            </p:txBody>
          </p:sp>
          <p:sp>
            <p:nvSpPr>
              <p:cNvPr id="30" name="Text 16">
                <a:extLst>
                  <a:ext uri="{FF2B5EF4-FFF2-40B4-BE49-F238E27FC236}">
                    <a16:creationId xmlns:a16="http://schemas.microsoft.com/office/drawing/2014/main" id="{3144A76E-D519-41CC-9D78-E279B752AECC}"/>
                  </a:ext>
                </a:extLst>
              </p:cNvPr>
              <p:cNvSpPr/>
              <p:nvPr/>
            </p:nvSpPr>
            <p:spPr>
              <a:xfrm>
                <a:off x="3560971" y="3713919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Email ID :</a:t>
                </a:r>
                <a:endParaRPr lang="en-US" dirty="0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734901-5BF2-49C3-910A-97290AE0D4FF}"/>
                </a:ext>
              </a:extLst>
            </p:cNvPr>
            <p:cNvGrpSpPr/>
            <p:nvPr/>
          </p:nvGrpSpPr>
          <p:grpSpPr>
            <a:xfrm>
              <a:off x="6014611" y="2996671"/>
              <a:ext cx="5730240" cy="2760456"/>
              <a:chOff x="5938411" y="2924237"/>
              <a:chExt cx="5730240" cy="2760456"/>
            </a:xfrm>
          </p:grpSpPr>
          <p:sp>
            <p:nvSpPr>
              <p:cNvPr id="17" name="Text 15"/>
              <p:cNvSpPr/>
              <p:nvPr/>
            </p:nvSpPr>
            <p:spPr>
              <a:xfrm>
                <a:off x="5938411" y="2924237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François Schmitt</a:t>
                </a:r>
                <a:endParaRPr lang="en-US" dirty="0"/>
              </a:p>
            </p:txBody>
          </p:sp>
          <p:sp>
            <p:nvSpPr>
              <p:cNvPr id="19" name="Text 17"/>
              <p:cNvSpPr/>
              <p:nvPr/>
            </p:nvSpPr>
            <p:spPr>
              <a:xfrm>
                <a:off x="5938411" y="3315225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23035010523</a:t>
                </a:r>
                <a:endParaRPr lang="en-US" dirty="0"/>
              </a:p>
            </p:txBody>
          </p:sp>
          <p:sp>
            <p:nvSpPr>
              <p:cNvPr id="21" name="Text 19"/>
              <p:cNvSpPr/>
              <p:nvPr/>
            </p:nvSpPr>
            <p:spPr>
              <a:xfrm>
                <a:off x="5938411" y="4097201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BSc. (Hons.) Data Science &amp; AI</a:t>
                </a:r>
                <a:endParaRPr lang="en-US" dirty="0"/>
              </a:p>
            </p:txBody>
          </p:sp>
          <p:sp>
            <p:nvSpPr>
              <p:cNvPr id="23" name="Text 21"/>
              <p:cNvSpPr/>
              <p:nvPr/>
            </p:nvSpPr>
            <p:spPr>
              <a:xfrm>
                <a:off x="5938411" y="4488189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DA 379</a:t>
                </a:r>
                <a:endParaRPr lang="en-US" dirty="0"/>
              </a:p>
            </p:txBody>
          </p:sp>
          <p:sp>
            <p:nvSpPr>
              <p:cNvPr id="25" name="Text 23"/>
              <p:cNvSpPr/>
              <p:nvPr/>
            </p:nvSpPr>
            <p:spPr>
              <a:xfrm>
                <a:off x="5938411" y="4879177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Term Project</a:t>
                </a:r>
                <a:endParaRPr lang="en-US" dirty="0"/>
              </a:p>
            </p:txBody>
          </p:sp>
          <p:sp>
            <p:nvSpPr>
              <p:cNvPr id="27" name="Text 25"/>
              <p:cNvSpPr/>
              <p:nvPr/>
            </p:nvSpPr>
            <p:spPr>
              <a:xfrm>
                <a:off x="5938411" y="5270165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IX</a:t>
                </a:r>
                <a:endParaRPr lang="en-US" dirty="0"/>
              </a:p>
            </p:txBody>
          </p:sp>
          <p:sp>
            <p:nvSpPr>
              <p:cNvPr id="33" name="Text 17">
                <a:extLst>
                  <a:ext uri="{FF2B5EF4-FFF2-40B4-BE49-F238E27FC236}">
                    <a16:creationId xmlns:a16="http://schemas.microsoft.com/office/drawing/2014/main" id="{D9C22DD5-566E-4E5C-B5B7-EF56DE8DF892}"/>
                  </a:ext>
                </a:extLst>
              </p:cNvPr>
              <p:cNvSpPr/>
              <p:nvPr/>
            </p:nvSpPr>
            <p:spPr>
              <a:xfrm>
                <a:off x="5938411" y="3706213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f.schmitt@op.iitg.ac.in</a:t>
                </a:r>
                <a:endParaRPr lang="en-US" dirty="0"/>
              </a:p>
            </p:txBody>
          </p:sp>
        </p:grpSp>
      </p:grpSp>
      <p:sp>
        <p:nvSpPr>
          <p:cNvPr id="14" name="Text 12"/>
          <p:cNvSpPr/>
          <p:nvPr/>
        </p:nvSpPr>
        <p:spPr>
          <a:xfrm>
            <a:off x="3560971" y="711756"/>
            <a:ext cx="8168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FFFFFF"/>
                </a:solidFill>
              </a:rPr>
              <a:t>Forecasting Daily Equity Volatility: Can Machine Learning Beat Classical Models?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03366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C8960C"/>
                </a:solidFill>
                <a:latin typeface="Calibri"/>
              </a:rPr>
              <a:t>What is the project about, and why?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37360"/>
            <a:ext cx="11155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Volatility: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the size of an asset's daily price swings. It drives option pricing, value-at-risk, margins and position sizing.</a:t>
            </a:r>
          </a:p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A key asymmetry: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the direction of tomorrow's return is unpredictable, but its size is strongly persistent, so it can be forecast.</a:t>
            </a:r>
          </a:p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Classical models: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GARCH-type models have exploited this persistence for four decades.</a:t>
            </a:r>
          </a:p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The question: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can machine learning (XGBoost) and deep learning (LSTM) forecast next-day volatility better than these classical baselines?</a:t>
            </a:r>
          </a:p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The approach: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test every model fairly, in one harness, with no look-ahead bias, and check whether any difference is statistically real.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03366"/>
                </a:solidFill>
                <a:latin typeface="Calibri"/>
              </a:rPr>
              <a:t>Why Volatility Can Be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C8960C"/>
                </a:solidFill>
                <a:latin typeface="Calibri"/>
              </a:rPr>
              <a:t>Direction is noise; size is persistent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Returns: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show no autocorrelation. Past returns do not predict the direction of the next one.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Absolute returns: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show strong, slowly decaying autocorrelation. Big days cluster together.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Volatility clustering: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this persistence is the one signal every model in this study exploits.</a:t>
            </a:r>
          </a:p>
        </p:txBody>
      </p:sp>
      <p:pic>
        <p:nvPicPr>
          <p:cNvPr id="5" name="Picture 4" descr="fig_correl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955688"/>
            <a:ext cx="5394960" cy="17695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03366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1155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1.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Build honest classical baselines: naive, rolling, EWMA, and the GARCH family (GARCH, GJR-GARCH, EGARCH).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2.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Build a leak-free walk-forward evaluation with RMSE, MAE, QLIKE and the Diebold–Mariano test.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3.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Build a walk-forward XGBoost forecaster with justified features.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4.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Build and regularize an LSTM forecaster with explicit anti-leakage guards.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5.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Compare all models on one shared test window and test whether the differences are significant.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6.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Deliver a reproducible, modular codebase.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03366"/>
                </a:solidFill>
                <a:latin typeface="Calibri"/>
              </a:rPr>
              <a:t>Dataset: S&amp;P 500 Daily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C8960C"/>
                </a:solidFill>
                <a:latin typeface="Calibri"/>
              </a:rPr>
              <a:t>Source: Yahoo Finance (^GSPC), auto-adjusted close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578608" cy="1554480"/>
          </a:xfrm>
          <a:prstGeom prst="roundRect">
            <a:avLst/>
          </a:prstGeom>
          <a:solidFill>
            <a:srgbClr val="F7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2578608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3366"/>
                </a:solidFill>
                <a:latin typeface="Calibri"/>
              </a:rPr>
              <a:t>4,650</a:t>
            </a:r>
          </a:p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trading days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1828800"/>
            <a:ext cx="2578608" cy="1554480"/>
          </a:xfrm>
          <a:prstGeom prst="roundRect">
            <a:avLst/>
          </a:prstGeom>
          <a:solidFill>
            <a:srgbClr val="F7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6704" y="2011680"/>
            <a:ext cx="2578608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3366"/>
                </a:solidFill>
                <a:latin typeface="Calibri"/>
              </a:rPr>
              <a:t>2008–2026</a:t>
            </a:r>
          </a:p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18.5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828800"/>
            <a:ext cx="2578608" cy="1554480"/>
          </a:xfrm>
          <a:prstGeom prst="roundRect">
            <a:avLst/>
          </a:prstGeom>
          <a:solidFill>
            <a:srgbClr val="F7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0488" y="2011680"/>
            <a:ext cx="2578608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3366"/>
                </a:solidFill>
                <a:latin typeface="Calibri"/>
              </a:rPr>
              <a:t>70 / 30</a:t>
            </a:r>
          </a:p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train / test split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34272" y="1828800"/>
            <a:ext cx="2578608" cy="1554480"/>
          </a:xfrm>
          <a:prstGeom prst="roundRect">
            <a:avLst/>
          </a:prstGeom>
          <a:solidFill>
            <a:srgbClr val="F7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34272" y="2011680"/>
            <a:ext cx="2578608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3366"/>
                </a:solidFill>
                <a:latin typeface="Calibri"/>
              </a:rPr>
              <a:t>1,395</a:t>
            </a:r>
          </a:p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out-of-sample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94760"/>
            <a:ext cx="11155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Returns: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daily log returns, the standard object for volatility models.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Preprocessing: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log-difference adjusted closes; no other cleaning needed.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Test window: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the final 30% (2020-12-07 to 2026-06-29), shared by every model.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Stress test: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the window contains the 2022 bear market and the April-2025 tariff shock.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03366"/>
                </a:solidFill>
                <a:latin typeface="Calibri"/>
              </a:rPr>
              <a:t>Tools &amp; Technologies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20240"/>
            <a:ext cx="2578608" cy="274320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2148840"/>
            <a:ext cx="21762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03366"/>
                </a:solidFill>
                <a:latin typeface="Calibri"/>
              </a:rPr>
              <a:t>Language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Python 3.13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6704" y="1920240"/>
            <a:ext cx="2578608" cy="274320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7872" y="2148840"/>
            <a:ext cx="21762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03366"/>
                </a:solidFill>
                <a:latin typeface="Calibri"/>
              </a:rPr>
              <a:t>Data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pandas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NumPy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yfinance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1920240"/>
            <a:ext cx="2578608" cy="274320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91656" y="2148840"/>
            <a:ext cx="21762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03366"/>
                </a:solidFill>
                <a:latin typeface="Calibri"/>
              </a:rPr>
              <a:t>Models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arch (GARCH)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XGBoost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PyTorch (LSTM)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statsmodels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34272" y="1920240"/>
            <a:ext cx="2578608" cy="274320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0" y="2148840"/>
            <a:ext cx="21762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03366"/>
                </a:solidFill>
                <a:latin typeface="Calibri"/>
              </a:rPr>
              <a:t>Workflow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Jupyter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VS Code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Git / GitHub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LaTeX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555555"/>
                </a:solidFill>
                <a:latin typeface="Calibri"/>
              </a:rPr>
              <a:t>The five heavy model fits run in parallel processes; the full pipeline reproduces end-to-end in about one minute.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03366"/>
                </a:solidFill>
                <a:latin typeface="Calibri"/>
              </a:rPr>
              <a:t>The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C8960C"/>
                </a:solidFill>
                <a:latin typeface="Calibri"/>
              </a:rPr>
              <a:t>Eight forecasters, from three-parameter recursions to a neural network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5349240" cy="402336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48920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i="0">
                <a:solidFill>
                  <a:srgbClr val="003366"/>
                </a:solidFill>
                <a:latin typeface="Calibri"/>
              </a:rPr>
              <a:t>Classical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Naive: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yesterday's squared return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Rolling(21):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variance of last 21 days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EWMA(0.94):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RiskMetrics decay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GARCH(1,1):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ω + α r² + β σ²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GJR / EGARCH: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add the leverage effect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828800"/>
            <a:ext cx="5623560" cy="402336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2057400"/>
            <a:ext cx="51663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i="0">
                <a:solidFill>
                  <a:srgbClr val="003366"/>
                </a:solidFill>
                <a:latin typeface="Calibri"/>
              </a:rPr>
              <a:t>Learned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XGBoost: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gradient-boosted trees, refit monthly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LSTM: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reads 20 days of features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Shared features: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recent returns, realized variance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Shared target: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log smoothed forward variance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Guarded: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train-only scaling, early stopping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03366"/>
                </a:solidFill>
                <a:latin typeface="Calibri"/>
              </a:rPr>
              <a:t>Evaluation: A Leak-Free Walk-Forward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1155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No look-ahead: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the forecast for a day uses only data up to the day before. All models share one test window.</a:t>
            </a:r>
          </a:p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Periodic refit: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classical and ML models are re-estimated about monthly, then rolled forward on observed data.</a:t>
            </a:r>
          </a:p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QLIKE (headline):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robust to noise in the squared-return proxy, and it punishes under-prediction of variance.</a:t>
            </a:r>
          </a:p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RMSE / MAE: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point accuracy on the volatility scale, for interpretability.</a:t>
            </a:r>
          </a:p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Diebold–Mariano: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tests whether a gap in loss between two models is statistically real, not luck.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03366"/>
                </a:solidFill>
                <a:latin typeface="Calibri"/>
              </a:rPr>
              <a:t>Results: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C8960C"/>
                </a:solidFill>
                <a:latin typeface="Calibri"/>
              </a:rPr>
              <a:t>Out-of-sample, 1,395 days, sorted by QLIKE (lower = better)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828800"/>
          <a:ext cx="5486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051560"/>
                <a:gridCol w="1051560"/>
                <a:gridCol w="1051560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3152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 marL="73152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 marL="73152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QLIKE</a:t>
                      </a:r>
                    </a:p>
                  </a:txBody>
                  <a:tcPr marL="73152" marR="45720" marT="18288" marB="18288" anchor="ctr">
                    <a:solidFill>
                      <a:srgbClr val="00336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3366"/>
                          </a:solidFill>
                          <a:latin typeface="Calibri"/>
                        </a:rPr>
                        <a:t>EGARCH(1,1)</a:t>
                      </a:r>
                    </a:p>
                  </a:txBody>
                  <a:tcPr marL="73152" marR="45720" marT="18288" marB="18288" anchor="ctr">
                    <a:solidFill>
                      <a:srgbClr val="F7EF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3366"/>
                          </a:solidFill>
                          <a:latin typeface="Calibri"/>
                        </a:rPr>
                        <a:t>0.00728</a:t>
                      </a:r>
                    </a:p>
                  </a:txBody>
                  <a:tcPr marL="73152" marR="45720" marT="18288" marB="18288" anchor="ctr">
                    <a:solidFill>
                      <a:srgbClr val="F7EF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3366"/>
                          </a:solidFill>
                          <a:latin typeface="Calibri"/>
                        </a:rPr>
                        <a:t>0.00556</a:t>
                      </a:r>
                    </a:p>
                  </a:txBody>
                  <a:tcPr marL="73152" marR="45720" marT="18288" marB="18288" anchor="ctr">
                    <a:solidFill>
                      <a:srgbClr val="F7EF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3366"/>
                          </a:solidFill>
                          <a:latin typeface="Calibri"/>
                        </a:rPr>
                        <a:t>1.5042</a:t>
                      </a:r>
                    </a:p>
                  </a:txBody>
                  <a:tcPr marL="73152" marR="45720" marT="18288" marB="18288" anchor="ctr">
                    <a:solidFill>
                      <a:srgbClr val="F7EFDD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GJR-GARCH(1,1)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0.00731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0.00554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1.5091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LSTM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0.00686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0.00499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1.5287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GARCH(1,1)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0.00751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0.00576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1.5569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EWMA(0.94)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0.00750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0.00573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1.5814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0.00691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0.00496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1.5911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Rolling(21)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0.00762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0.00571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1.6344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Naive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0.00951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0.00672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5440.5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fig_forecasts_vs_re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344217"/>
            <a:ext cx="5486400" cy="22610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512064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1">
                <a:solidFill>
                  <a:srgbClr val="555555"/>
                </a:solidFill>
                <a:latin typeface="Calibri"/>
              </a:rPr>
              <a:t>All models track the same clusters. EGARCH(1,1) wins on QLIKE; the LSTM ranks 3rd, ahead of plain GARCH; the learned models take the best RMSE (LSTM) and MAE (XGBoost).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03366"/>
                </a:solidFill>
                <a:latin typeface="Calibri"/>
              </a:rPr>
              <a:t>Is the Winner Really Better?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C8960C"/>
                </a:solidFill>
                <a:latin typeface="Calibri"/>
              </a:rPr>
              <a:t>The best model vs the best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5486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EGARCH(1,1)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gives the lowest QLIKE; GJR-GARCH is statistically tied (p = 0.47).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Leverage matters: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both beat plain GARCH(1,1) decisively (p &lt; 0.0001) on this window.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LSTM: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third place, ahead of plain GARCH, and statistically tied with the winner (p = 0.19).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31920"/>
            <a:ext cx="2743200" cy="1371600"/>
          </a:xfrm>
          <a:prstGeom prst="roundRect">
            <a:avLst/>
          </a:prstGeom>
          <a:solidFill>
            <a:srgbClr val="F7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096512"/>
            <a:ext cx="2743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03366"/>
                </a:solidFill>
                <a:latin typeface="Calibri"/>
              </a:rPr>
              <a:t>QLIKE 1.504</a:t>
            </a:r>
          </a:p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EGARCH(1,1), best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3931920"/>
            <a:ext cx="2743200" cy="1371600"/>
          </a:xfrm>
          <a:prstGeom prst="roundRect">
            <a:avLst/>
          </a:prstGeom>
          <a:solidFill>
            <a:srgbClr val="F7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4096512"/>
            <a:ext cx="2743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03366"/>
                </a:solidFill>
                <a:latin typeface="Calibri"/>
              </a:rPr>
              <a:t>p &lt; 0.0001</a:t>
            </a:r>
          </a:p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EGARCH vs plain GARCH: significant</a:t>
            </a:r>
          </a:p>
        </p:txBody>
      </p:sp>
      <p:pic>
        <p:nvPicPr>
          <p:cNvPr id="9" name="Picture 8" descr="fig_best_vs_re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849251"/>
            <a:ext cx="5486400" cy="1799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03366"/>
                </a:solidFill>
                <a:latin typeface="Calibri"/>
              </a:rPr>
              <a:t>Why Do the Leverage Models Win?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37360"/>
            <a:ext cx="11155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Leverage effect: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the test window is dominated by two sharp crashes (2022 and April 2025), and the leverage term turns a big fall directly into higher next-day variance.</a:t>
            </a:r>
          </a:p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Right objective: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the GARCH family is fit by maximum likelihood on variance; the learned models train on a smoother substitute target.</a:t>
            </a:r>
          </a:p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Small data: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roughly 3,250 noisy training days favours simple recursions over neural networks.</a:t>
            </a:r>
          </a:p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QLIKE asymmetry: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it rewards fast reactions to spikes, and the GARCH recursion reacts the very next day.</a:t>
            </a:r>
          </a:p>
          <a:p>
            <a:pPr algn="l">
              <a:spcAft>
                <a:spcPts val="13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Limitations: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single asset and window, a noisy proxy, and deliberately modest hyperparameter tuning.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03366"/>
                </a:solidFill>
                <a:latin typeface="Calibri"/>
              </a:rPr>
              <a:t>Conclusion &amp;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6583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Answer: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no. A monthly-refit EGARCH(1,1) gives the best QLIKE; no learned model beats the leverage GARCH family where it matters.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Nuance: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the LSTM ranks third, ahead of plain GARCH, and is statistically tied with the winner; LSTM and XGBoost take the best RMSE and MAE.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Leverage matters: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on a window with two asymmetric crashes, EGARCH and GJR significantly beat plain GARCH.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Main lesson: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a leak-free walk-forward harness and the choice of metric matter more than model complexity.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C8960C"/>
                </a:solidFill>
                <a:latin typeface="Calibri"/>
              </a:rPr>
              <a:t>Future work: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intraday realized variance, extra inputs like the VIX, and multi-asset training.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60920" y="1828800"/>
            <a:ext cx="4251960" cy="210312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2057400"/>
            <a:ext cx="3840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003366"/>
                </a:solidFill>
                <a:latin typeface="Calibri"/>
              </a:rPr>
              <a:t>Project artifacts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C8960C"/>
                </a:solidFill>
                <a:latin typeface="Calibri"/>
              </a:rPr>
              <a:t>Code: 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github.com/iitgF/T9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C8960C"/>
                </a:solidFill>
                <a:latin typeface="Calibri"/>
              </a:rPr>
              <a:t>Report: 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LaTeX (Overleaf)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C8960C"/>
                </a:solidFill>
                <a:latin typeface="Calibri"/>
              </a:rPr>
              <a:t>Notebook: 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consolidated, runs end-to-end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155ec88-263f-4c39-a8c1-728a7cfb48aa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FAA81BCE9F72A49B8745383D9CBDD86" ma:contentTypeVersion="10" ma:contentTypeDescription="Create a new document." ma:contentTypeScope="" ma:versionID="38efbece290d13bcb890d7b5b5e7daf6">
  <xsd:schema xmlns:xsd="http://www.w3.org/2001/XMLSchema" xmlns:xs="http://www.w3.org/2001/XMLSchema" xmlns:p="http://schemas.microsoft.com/office/2006/metadata/properties" xmlns:ns3="1155ec88-263f-4c39-a8c1-728a7cfb48aa" targetNamespace="http://schemas.microsoft.com/office/2006/metadata/properties" ma:root="true" ma:fieldsID="a090796afe0946f7c0b9223c3a320f09" ns3:_="">
    <xsd:import namespace="1155ec88-263f-4c39-a8c1-728a7cfb48a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55ec88-263f-4c39-a8c1-728a7cfb48a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01E4C34-82E3-43E3-A462-EEEF49904C74}">
  <ds:schemaRefs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purl.org/dc/terms/"/>
    <ds:schemaRef ds:uri="1155ec88-263f-4c39-a8c1-728a7cfb48aa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5EC0F99-FA04-4FE2-BD0D-3F8C47651CD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C34DA7C-63B1-4CA3-846D-1B505C91C9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155ec88-263f-4c39-a8c1-728a7cfb48a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95</Words>
  <Application>Microsoft Office PowerPoint</Application>
  <PresentationFormat>Widescreen</PresentationFormat>
  <Paragraphs>20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Kashmiri Prakash Jadhav</dc:creator>
  <cp:lastModifiedBy>Ankan Rabha</cp:lastModifiedBy>
  <cp:revision>8</cp:revision>
  <cp:lastPrinted>2026-02-26T05:23:59Z</cp:lastPrinted>
  <dcterms:created xsi:type="dcterms:W3CDTF">2026-02-25T06:24:34Z</dcterms:created>
  <dcterms:modified xsi:type="dcterms:W3CDTF">2026-02-26T09:57:08Z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0x010100BFAA81BCE9F72A49B8745383D9CBDD86</vt:lpwstr>
  </property>
</Properties>
</file>